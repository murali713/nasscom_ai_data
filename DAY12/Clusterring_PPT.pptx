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70" r:id="rId7"/>
    <p:sldId id="271" r:id="rId8"/>
    <p:sldId id="265" r:id="rId9"/>
    <p:sldId id="267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E3FF-C665-478F-9584-21A70485944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2F48A-AF4A-4AC7-B264-89E8A1D3E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386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E3FF-C665-478F-9584-21A70485944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2F48A-AF4A-4AC7-B264-89E8A1D3E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41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E3FF-C665-478F-9584-21A70485944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2F48A-AF4A-4AC7-B264-89E8A1D3E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90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E3FF-C665-478F-9584-21A70485944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2F48A-AF4A-4AC7-B264-89E8A1D3E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204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E3FF-C665-478F-9584-21A70485944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2F48A-AF4A-4AC7-B264-89E8A1D3E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245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E3FF-C665-478F-9584-21A70485944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2F48A-AF4A-4AC7-B264-89E8A1D3E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730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E3FF-C665-478F-9584-21A70485944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2F48A-AF4A-4AC7-B264-89E8A1D3E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27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E3FF-C665-478F-9584-21A70485944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2F48A-AF4A-4AC7-B264-89E8A1D3E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555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E3FF-C665-478F-9584-21A70485944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2F48A-AF4A-4AC7-B264-89E8A1D3E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361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E3FF-C665-478F-9584-21A70485944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2F48A-AF4A-4AC7-B264-89E8A1D3E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721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E3FF-C665-478F-9584-21A70485944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2F48A-AF4A-4AC7-B264-89E8A1D3E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626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5E3FF-C665-478F-9584-21A70485944C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2F48A-AF4A-4AC7-B264-89E8A1D3E0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177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4342"/>
            <a:ext cx="5546359" cy="57337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154" y="1004342"/>
            <a:ext cx="6145968" cy="569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164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6" y="816961"/>
            <a:ext cx="5801193" cy="54938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075" y="816960"/>
            <a:ext cx="6026047" cy="549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53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4848"/>
            <a:ext cx="5981075" cy="56459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839" y="767168"/>
            <a:ext cx="5635399" cy="562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2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25" y="1105552"/>
            <a:ext cx="5996064" cy="49654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816" y="1105552"/>
            <a:ext cx="5661286" cy="50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410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98" y="0"/>
            <a:ext cx="10193310" cy="728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528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Silhouette Score</a:t>
            </a:r>
          </a:p>
          <a:p>
            <a:pPr lvl="1"/>
            <a:r>
              <a:t>Range: -1 to +1</a:t>
            </a:r>
          </a:p>
          <a:p>
            <a:pPr lvl="1"/>
            <a:r>
              <a:t>Higher is better</a:t>
            </a:r>
          </a:p>
          <a:p>
            <a:pPr lvl="1"/>
            <a:r>
              <a:t>Measures cluster cohesion and separation</a:t>
            </a:r>
          </a:p>
          <a:p>
            <a:r>
              <a:t>Calinski–Harabasz Index</a:t>
            </a:r>
          </a:p>
          <a:p>
            <a:pPr lvl="1"/>
            <a:r>
              <a:t>Range: 0 to ∞</a:t>
            </a:r>
          </a:p>
          <a:p>
            <a:pPr lvl="1"/>
            <a:r>
              <a:t>Higher is better</a:t>
            </a:r>
          </a:p>
          <a:p>
            <a:pPr lvl="1"/>
            <a:r>
              <a:t>Ratio of between-cluster to within-cluster variance</a:t>
            </a:r>
          </a:p>
          <a:p>
            <a:r>
              <a:t>Davies–Bouldin Index</a:t>
            </a:r>
          </a:p>
          <a:p>
            <a:pPr lvl="1"/>
            <a:r>
              <a:t>Range: 0 to ∞</a:t>
            </a:r>
          </a:p>
          <a:p>
            <a:pPr lvl="1"/>
            <a:r>
              <a:t>Lower is better</a:t>
            </a:r>
          </a:p>
          <a:p>
            <a:pPr lvl="1"/>
            <a:r>
              <a:t>Measures cluster similarity and overlap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079" y="1690688"/>
            <a:ext cx="1762749" cy="13083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079" y="3416449"/>
            <a:ext cx="3787468" cy="7620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746011"/>
            <a:ext cx="2629128" cy="105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6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016575"/>
              </p:ext>
            </p:extLst>
          </p:nvPr>
        </p:nvGraphicFramePr>
        <p:xfrm>
          <a:off x="1349115" y="1379095"/>
          <a:ext cx="9218951" cy="50882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239"/>
                <a:gridCol w="1903750"/>
                <a:gridCol w="2803161"/>
                <a:gridCol w="1828801"/>
              </a:tblGrid>
              <a:tr h="83757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Model</a:t>
                      </a:r>
                      <a:endParaRPr lang="en-IN" sz="3200" b="1" i="0" u="none" strike="noStrike" dirty="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Silhouette Score ↑</a:t>
                      </a:r>
                      <a:endParaRPr lang="en-IN" sz="3200" b="1" i="0" u="none" strike="noStrike" dirty="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 smtClean="0">
                          <a:solidFill>
                            <a:schemeClr val="accent5"/>
                          </a:solidFill>
                          <a:effectLst/>
                        </a:rPr>
                        <a:t>Calinski</a:t>
                      </a:r>
                      <a:r>
                        <a:rPr lang="en-IN" sz="3200" u="none" strike="noStrike" dirty="0" smtClean="0">
                          <a:solidFill>
                            <a:schemeClr val="accent5"/>
                          </a:solidFill>
                          <a:effectLst/>
                        </a:rPr>
                        <a:t>–</a:t>
                      </a:r>
                      <a:endParaRPr lang="en-IN" sz="3200" u="none" strike="noStrike" dirty="0" smtClean="0">
                        <a:solidFill>
                          <a:schemeClr val="accent5"/>
                        </a:solidFill>
                        <a:effectLst/>
                      </a:endParaRPr>
                    </a:p>
                    <a:p>
                      <a:pPr algn="ctr" rtl="0" fontAlgn="ctr"/>
                      <a:r>
                        <a:rPr lang="en-IN" sz="3200" u="none" strike="noStrike" dirty="0" smtClean="0">
                          <a:solidFill>
                            <a:schemeClr val="accent5"/>
                          </a:solidFill>
                          <a:effectLst/>
                        </a:rPr>
                        <a:t>Harabasz </a:t>
                      </a:r>
                    </a:p>
                    <a:p>
                      <a:pPr algn="ctr" rtl="0" fontAlgn="ctr"/>
                      <a:r>
                        <a:rPr lang="en-IN" sz="3200" u="none" strike="noStrike" dirty="0" smtClean="0">
                          <a:solidFill>
                            <a:schemeClr val="accent5"/>
                          </a:solidFill>
                          <a:effectLst/>
                        </a:rPr>
                        <a:t> </a:t>
                      </a:r>
                      <a:r>
                        <a:rPr lang="en-IN" sz="32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Index ↑</a:t>
                      </a:r>
                      <a:endParaRPr lang="en-IN" sz="3200" b="1" i="0" u="none" strike="noStrike" dirty="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Davies</a:t>
                      </a:r>
                      <a:r>
                        <a:rPr lang="en-IN" sz="3200" u="none" strike="noStrike" dirty="0" smtClean="0">
                          <a:solidFill>
                            <a:schemeClr val="accent5"/>
                          </a:solidFill>
                          <a:effectLst/>
                        </a:rPr>
                        <a:t>– </a:t>
                      </a:r>
                      <a:r>
                        <a:rPr lang="en-IN" sz="3200" u="none" strike="noStrike" dirty="0" err="1" smtClean="0">
                          <a:solidFill>
                            <a:schemeClr val="accent5"/>
                          </a:solidFill>
                          <a:effectLst/>
                        </a:rPr>
                        <a:t>Bouldin</a:t>
                      </a:r>
                      <a:r>
                        <a:rPr lang="en-IN" sz="3200" u="none" strike="noStrike" dirty="0" smtClean="0">
                          <a:solidFill>
                            <a:schemeClr val="accent5"/>
                          </a:solidFill>
                          <a:effectLst/>
                        </a:rPr>
                        <a:t> </a:t>
                      </a:r>
                      <a:r>
                        <a:rPr lang="en-IN" sz="32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Index ↓</a:t>
                      </a:r>
                      <a:endParaRPr lang="en-IN" sz="3200" b="1" i="0" u="none" strike="noStrike" dirty="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06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 smtClean="0">
                          <a:effectLst/>
                        </a:rPr>
                        <a:t>K-Means</a:t>
                      </a:r>
                      <a:endParaRPr lang="en-IN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>
                          <a:effectLst/>
                        </a:rPr>
                        <a:t>0.309</a:t>
                      </a:r>
                      <a:endParaRPr lang="en-IN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 smtClean="0">
                          <a:effectLst/>
                        </a:rPr>
                        <a:t>6219.92</a:t>
                      </a:r>
                      <a:endParaRPr lang="en-IN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>
                          <a:effectLst/>
                        </a:rPr>
                        <a:t>1.0994</a:t>
                      </a:r>
                      <a:endParaRPr lang="en-IN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63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>
                          <a:effectLst/>
                        </a:rPr>
                        <a:t>Agglomerative</a:t>
                      </a:r>
                      <a:endParaRPr lang="en-IN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>
                          <a:effectLst/>
                        </a:rPr>
                        <a:t>0.2622</a:t>
                      </a:r>
                      <a:endParaRPr lang="en-IN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 smtClean="0">
                          <a:effectLst/>
                        </a:rPr>
                        <a:t>5562.25</a:t>
                      </a:r>
                      <a:endParaRPr lang="en-IN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>
                          <a:effectLst/>
                        </a:rPr>
                        <a:t>1.2477</a:t>
                      </a:r>
                      <a:endParaRPr lang="en-IN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06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>
                          <a:effectLst/>
                        </a:rPr>
                        <a:t>DBSCAN</a:t>
                      </a:r>
                      <a:endParaRPr lang="en-IN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>
                          <a:effectLst/>
                        </a:rPr>
                        <a:t>0.1481</a:t>
                      </a:r>
                      <a:endParaRPr lang="en-IN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 smtClean="0">
                          <a:effectLst/>
                        </a:rPr>
                        <a:t>858.78</a:t>
                      </a:r>
                      <a:endParaRPr lang="en-IN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>
                          <a:effectLst/>
                        </a:rPr>
                        <a:t>1.3306</a:t>
                      </a:r>
                      <a:endParaRPr lang="en-IN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02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>
                          <a:effectLst/>
                        </a:rPr>
                        <a:t>Birch</a:t>
                      </a:r>
                      <a:endParaRPr lang="en-IN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>
                          <a:effectLst/>
                        </a:rPr>
                        <a:t>0.3224</a:t>
                      </a:r>
                      <a:endParaRPr lang="en-IN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 smtClean="0">
                          <a:effectLst/>
                        </a:rPr>
                        <a:t>5277.53</a:t>
                      </a:r>
                      <a:endParaRPr lang="en-IN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 smtClean="0">
                          <a:effectLst/>
                        </a:rPr>
                        <a:t>1.1150</a:t>
                      </a:r>
                      <a:endParaRPr lang="en-IN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06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>
                          <a:effectLst/>
                        </a:rPr>
                        <a:t>GMM</a:t>
                      </a:r>
                      <a:endParaRPr lang="en-IN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>
                          <a:effectLst/>
                        </a:rPr>
                        <a:t>0.2897</a:t>
                      </a:r>
                      <a:endParaRPr lang="en-IN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 smtClean="0">
                          <a:effectLst/>
                        </a:rPr>
                        <a:t>5107.09</a:t>
                      </a:r>
                      <a:endParaRPr lang="en-IN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3200" u="none" strike="noStrike" dirty="0">
                          <a:effectLst/>
                        </a:rPr>
                        <a:t>1.6652</a:t>
                      </a:r>
                      <a:endParaRPr lang="en-IN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104931"/>
            <a:ext cx="6844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chemeClr val="accent1">
                    <a:lumMod val="75000"/>
                  </a:schemeClr>
                </a:solidFill>
              </a:rPr>
              <a:t>Comparative </a:t>
            </a:r>
            <a:r>
              <a:rPr lang="en-IN" sz="5400" dirty="0" smtClean="0">
                <a:solidFill>
                  <a:schemeClr val="accent1">
                    <a:lumMod val="75000"/>
                  </a:schemeClr>
                </a:solidFill>
              </a:rPr>
              <a:t>Evaluation</a:t>
            </a:r>
            <a:endParaRPr lang="en-IN" sz="5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10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54" y="1169232"/>
            <a:ext cx="5846164" cy="52765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761" y="1169232"/>
            <a:ext cx="5731239" cy="461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1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96" y="224852"/>
            <a:ext cx="10082641" cy="636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72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4545" y="656538"/>
            <a:ext cx="11497455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accent1">
                    <a:lumMod val="75000"/>
                  </a:schemeClr>
                </a:solidFill>
              </a:rPr>
              <a:t>Conclusion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/>
              <a:t>PCA effectively reduced dimensionality</a:t>
            </a:r>
            <a:r>
              <a:rPr lang="en-GB" sz="2400" dirty="0"/>
              <a:t>, preserving the most significant variance and enabling clear visualization of the bean dataset.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/>
              <a:t>K-Means and Birch achieved the best clustering performance</a:t>
            </a:r>
            <a:r>
              <a:rPr lang="en-GB" sz="2400" dirty="0"/>
              <a:t>, with K-Means obtaining the highest Calinski–Harabasz Index (6219.92) and lowest Davies</a:t>
            </a:r>
            <a:r>
              <a:rPr lang="en-GB" sz="2400" dirty="0" smtClean="0"/>
              <a:t>– </a:t>
            </a:r>
            <a:r>
              <a:rPr lang="en-GB" sz="2400" dirty="0" err="1" smtClean="0"/>
              <a:t>Bouldin</a:t>
            </a:r>
            <a:r>
              <a:rPr lang="en-GB" sz="2400" dirty="0" smtClean="0"/>
              <a:t> </a:t>
            </a:r>
            <a:r>
              <a:rPr lang="en-GB" sz="2400" dirty="0"/>
              <a:t>Index (1.0994), while Birch achieved the highest Silhouette Score (0.3224).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/>
              <a:t>The combination of PCA and clustering successfully identified natural groupings in the dataset</a:t>
            </a:r>
            <a:r>
              <a:rPr lang="en-GB" sz="2400" dirty="0"/>
              <a:t>, demonstrating its effectiveness for unsupervised pattern </a:t>
            </a:r>
            <a:r>
              <a:rPr lang="en-GB" sz="2400" dirty="0" smtClean="0"/>
              <a:t>and </a:t>
            </a:r>
            <a:r>
              <a:rPr lang="en-GB" sz="2400" dirty="0"/>
              <a:t>data analysis.</a:t>
            </a:r>
          </a:p>
        </p:txBody>
      </p:sp>
    </p:spTree>
    <p:extLst>
      <p:ext uri="{BB962C8B-B14F-4D97-AF65-F5344CB8AC3E}">
        <p14:creationId xmlns:p14="http://schemas.microsoft.com/office/powerpoint/2010/main" val="2798016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170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Clustering Evaluation Metrics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35</cp:revision>
  <dcterms:created xsi:type="dcterms:W3CDTF">2026-06-22T06:20:07Z</dcterms:created>
  <dcterms:modified xsi:type="dcterms:W3CDTF">2026-06-22T15:18:43Z</dcterms:modified>
</cp:coreProperties>
</file>